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1B4B"/>
                </a:solidFill>
              </a:rPr>
              <a:t>Slide 1 — The Cloud Problem and the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0642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4F46E5"/>
                </a:solidFill>
              </a:rPr>
              <a:t>The Problem Cloud Architecture Solves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1031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1E1B4B"/>
                </a:solidFill>
              </a:rPr>
              <a:t>A storefront on one server fails at exactly the wrong moment: a product gets featured, traffic spikes 10x, and the busiest hour becomes the hour customers cannot buy. Vertical scaling is capacity you pay for year-round and still outgrow in a spike.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6135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1E1B4B"/>
                </a:solidFill>
              </a:rPr>
              <a:t>The cloud answer is horizontal: many small identical instances behind a load balancer, added and removed as demand moves.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86533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4F46E5"/>
                </a:solidFill>
              </a:rPr>
              <a:t>What That Requires of the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711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1E1B4B"/>
                </a:solidFill>
              </a:rPr>
              <a:t>Horizontal scaling is not a deployment trick — it constrains how the app is written. Three properties had to hold: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578035"/>
          <a:ext cx="5394960" cy="950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/>
                <a:gridCol w="1798320"/>
                <a:gridCol w="1798320"/>
              </a:tblGrid>
              <a:tr h="23774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1B4B"/>
                          </a:solidFill>
                        </a:defRPr>
                      </a:pPr>
                      <a:r>
                        <a:t>Requirement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1B4B"/>
                          </a:solidFill>
                        </a:defRPr>
                      </a:pPr>
                      <a:r>
                        <a:t>Why it matters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1B4B"/>
                          </a:solidFill>
                        </a:defRPr>
                      </a:pPr>
                      <a:r>
                        <a:t>How it was met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Stateless app tier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Any instance must serve any request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Session in a signed cookie, not server memory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Externalized config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One image, many environments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All config from environment variables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Health-reporting instances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The balancer must know who is alive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HTTP probe per instance every 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3711891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4F46E5"/>
                </a:solidFill>
              </a:rPr>
              <a:t>Cloud Concepts Implemented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9649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1E1B4B"/>
                </a:solidFill>
              </a:rPr>
              <a:t>Load balancing · health checking · auto-scaling simulation · stateless application tier · CDN-offloaded assets · role-based access control · containerization · CI/CD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66817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1E1B4B"/>
                </a:solidFill>
              </a:rPr>
              <a:t>Each is covered in the slides that follow, with the trade-offs stated rather than hidden.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890A8"/>
                </a:solidFill>
              </a:rPr>
              <a:t>Flask E-Commerce — Cloud Computing (UCBX)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890A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1B4B"/>
                </a:solidFill>
              </a:rPr>
              <a:t>Slide 2 — Load Balancer and Elastic Capacity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0642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4F46E5"/>
                </a:solidFill>
              </a:rPr>
              <a:t>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1031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1E1B4B"/>
                </a:solidFill>
              </a:rPr>
              <a:t>load_balancer/load_balancer.py — a Flask reverse proxy on :8000 implementing four behaviors: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97926"/>
          <a:ext cx="539496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</a:tblGrid>
              <a:tr h="23774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1B4B"/>
                          </a:solidFill>
                        </a:defRPr>
                      </a:pPr>
                      <a:r>
                        <a:t>Behavior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1B4B"/>
                          </a:solidFill>
                        </a:defRPr>
                      </a:pPr>
                      <a:r>
                        <a:t>Implementation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Round-robin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itertools.count() cycles the healthy pool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Health checking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Daemon thread probes each backend every 5s, 2s timeout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Auto-scaling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Scans ports 5000–5010; instances join/leave on their 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Retry on failure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A request to a dead backend re-dispatches to the next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01466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1E1B4B"/>
                </a:solidFill>
              </a:rPr>
              <a:t>Hop-by-hop headers (connection, transfer-encoding, content-length) are stripped per RFC 7230 rather than blindly forwarded.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39845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4F46E5"/>
                </a:solidFill>
              </a:rPr>
              <a:t>Failure Behavior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3661028"/>
          <a:ext cx="5394960" cy="950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</a:tblGrid>
              <a:tr h="23774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1B4B"/>
                          </a:solidFill>
                        </a:defRPr>
                      </a:pPr>
                      <a:r>
                        <a:t>Condition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1B4B"/>
                          </a:solidFill>
                        </a:defRPr>
                      </a:pPr>
                      <a:r>
                        <a:t>Response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Backend dies mid-request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Retry next target; client never sees the failure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All retries exhausted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502 Bad Gateway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Zero healthy backends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503 Service Unavailable — degrades, does not crash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479488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4F46E5"/>
                </a:solidFill>
              </a:rPr>
              <a:t>Verified Live</a:t>
            </a:r>
          </a:p>
        </p:txBody>
      </p:sp>
      <p:pic>
        <p:nvPicPr>
          <p:cNvPr id="11" name="Picture 10" descr="13-load-balanc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51560"/>
            <a:ext cx="3847927" cy="2834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0" y="401421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1E1B4B"/>
                </a:solidFill>
              </a:rPr>
              <a:t>A third instance joins a running pool in one health interval and leaves when killed — no restart, no config change.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890A8"/>
                </a:solidFill>
              </a:rPr>
              <a:t>Flask E-Commerce — Cloud Computing (UCBX)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890A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1B4B"/>
                </a:solidFill>
              </a:rPr>
              <a:t>Slide 3 — Stateless Tier and Fast Image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0642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4F46E5"/>
                </a:solidFill>
              </a:rPr>
              <a:t>Why the App Tier Is Stateless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1031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1E1B4B"/>
                </a:solidFill>
              </a:rPr>
              <a:t>Round-robin only works if any instance can serve any request. Flask sessions are signed client-side cookies, so cart and login state travel with the request rather than living on one server.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6135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1E1B4B"/>
                </a:solidFill>
              </a:rPr>
              <a:t>The proof: a cart built on instance A, read back from instance B — a different process with a different database — returns the identical cart.</a:t>
            </a:r>
          </a:p>
        </p:txBody>
      </p:sp>
      <p:pic>
        <p:nvPicPr>
          <p:cNvPr id="7" name="Picture 6" descr="14-stateless-s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31669"/>
            <a:ext cx="5394960" cy="28200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879777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1E1B4B"/>
                </a:solidFill>
              </a:rPr>
              <a:t>This is why the deployment needs no sticky sessions. SECRET_KEY is shared across instances; any of them can verify the signature.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0642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4F46E5"/>
                </a:solidFill>
              </a:rPr>
              <a:t>Fast Image Loading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391031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1E1B4B"/>
                </a:solidFill>
              </a:rPr>
              <a:t>Product images are remote URLs, never served by the app — the application ships zero binary assets, so image bandwidth never touches the instances or the load balancer. That is CDN offload in practice.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6135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1E1B4B"/>
                </a:solidFill>
              </a:rPr>
              <a:t>Delivery was then tuned in the browser: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0" y="1968245"/>
          <a:ext cx="5394960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</a:tblGrid>
              <a:tr h="23774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1B4B"/>
                          </a:solidFill>
                        </a:defRPr>
                      </a:pPr>
                      <a:r>
                        <a:t>Technique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1B4B"/>
                          </a:solidFill>
                        </a:defRPr>
                      </a:pPr>
                      <a:r>
                        <a:t>Effect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loading="lazy"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Below-the-fold images deferred until scrolled toward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decoding="async"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Decode off the main thread; no render block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400800" y="2809493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1E1B4B"/>
                </a:solidFill>
              </a:rPr>
              <a:t>Measured on throttled Slow 3G (400 kbps, 400 ms RTT):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00800" y="3116388"/>
          <a:ext cx="5394960" cy="475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/>
                <a:gridCol w="1798320"/>
                <a:gridCol w="1798320"/>
              </a:tblGrid>
              <a:tr h="23774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1B4B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1B4B"/>
                          </a:solidFill>
                        </a:defRPr>
                      </a:pPr>
                      <a:r>
                        <a:t>Before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1B4B"/>
                          </a:solidFill>
                        </a:defRPr>
                      </a:pPr>
                      <a:r>
                        <a:t>After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Catalog load (9 images)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5,834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968 ms — 83% faster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890A8"/>
                </a:solidFill>
              </a:rPr>
              <a:t>Flask E-Commerce — Cloud Computing (UCBX)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890A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1B4B"/>
                </a:solidFill>
              </a:rPr>
              <a:t>Slide 4 — Security and Role-Based Access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0642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4F46E5"/>
                </a:solidFill>
              </a:rPr>
              <a:t>Roles: How They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1031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1E1B4B"/>
                </a:solidFill>
              </a:rPr>
              <a:t>A single is_admin flag on User, enforced by an @admin_required decorator that aborts with 403 for anyone unauthenticated or non-admin.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61350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55F7A"/>
                </a:solidFill>
                <a:latin typeface="Menlo"/>
              </a:rPr>
              <a:t>def admin_required(f):</a:t>
            </a:r>
          </a:p>
          <a:p>
            <a:r>
              <a:rPr sz="850">
                <a:solidFill>
                  <a:srgbClr val="555F7A"/>
                </a:solidFill>
                <a:latin typeface="Menlo"/>
              </a:rPr>
              <a:t>    @wraps(f)</a:t>
            </a:r>
          </a:p>
          <a:p>
            <a:r>
              <a:rPr sz="850">
                <a:solidFill>
                  <a:srgbClr val="555F7A"/>
                </a:solidFill>
                <a:latin typeface="Menlo"/>
              </a:rPr>
              <a:t>    def decorated_function(*args, **kwargs):</a:t>
            </a:r>
          </a:p>
          <a:p>
            <a:r>
              <a:rPr sz="850">
                <a:solidFill>
                  <a:srgbClr val="555F7A"/>
                </a:solidFill>
                <a:latin typeface="Menlo"/>
              </a:rPr>
              <a:t>        if (not current_user.is_authenticated</a:t>
            </a:r>
          </a:p>
          <a:p>
            <a:r>
              <a:rPr sz="850">
                <a:solidFill>
                  <a:srgbClr val="555F7A"/>
                </a:solidFill>
                <a:latin typeface="Menlo"/>
              </a:rPr>
              <a:t>                or not current_user.is_admin):</a:t>
            </a:r>
          </a:p>
          <a:p>
            <a:r>
              <a:rPr sz="850">
                <a:solidFill>
                  <a:srgbClr val="555F7A"/>
                </a:solidFill>
                <a:latin typeface="Menlo"/>
              </a:rPr>
              <a:t>            abort(403)</a:t>
            </a:r>
          </a:p>
          <a:p>
            <a:r>
              <a:rPr sz="850">
                <a:solidFill>
                  <a:srgbClr val="555F7A"/>
                </a:solidFill>
                <a:latin typeface="Menlo"/>
              </a:rPr>
              <a:t>        return f(*args, **kwargs)</a:t>
            </a:r>
          </a:p>
          <a:p>
            <a:r>
              <a:rPr sz="850">
                <a:solidFill>
                  <a:srgbClr val="555F7A"/>
                </a:solidFill>
                <a:latin typeface="Menlo"/>
              </a:rPr>
              <a:t>    return decorated_function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9579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1E1B4B"/>
                </a:solidFill>
              </a:rPr>
              <a:t>Coverage: 12 admin-gated routes · 10 login-gated routes.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20973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4F46E5"/>
                </a:solidFill>
              </a:rPr>
              <a:t>Four Tiers of Authorization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3542156"/>
          <a:ext cx="539496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/>
                <a:gridCol w="1798320"/>
                <a:gridCol w="1798320"/>
              </a:tblGrid>
              <a:tr h="23774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1B4B"/>
                          </a:solidFill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1B4B"/>
                          </a:solidFill>
                        </a:defRPr>
                      </a:pPr>
                      <a:r>
                        <a:t>Rule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1B4B"/>
                          </a:solidFill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Public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No auth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Catalog, product detail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Authenticated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@login_required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Cart, checkout, order history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Ownership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Must own the record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/orders/&lt;id&gt; — 403 on another user's order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@admin_required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Product CRUD, user promotion, complaints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485889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1E1B4B"/>
                </a:solidFill>
              </a:rPr>
              <a:t>Ownership is checked, not just login. A logged-in user requesting another's order is refused — verified in all three browser engines.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10642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4F46E5"/>
                </a:solidFill>
              </a:rPr>
              <a:t>Bootstrapping the First 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391031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1E1B4B"/>
                </a:solidFill>
              </a:rPr>
              <a:t>Registration never sets is_admin, and the promotion UI is itself admin-gated — so a fresh database has no path to an admin through the web. flask create-admin &lt;email&gt; breaks the cycle from the CLI. No privilege escalation path exists through the application.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1621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4F46E5"/>
                </a:solidFill>
              </a:rPr>
              <a:t>Defense in Depth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00821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1E1B4B"/>
                </a:solidFill>
              </a:rPr>
              <a:t>CSRF on every state-changing POST — a missing token returns 400 · PBKDF2-SHA256 password hashing, 8-char minimum · Field whitelisting blocks mass assignment · Signed, single-use, 1-hour reset tokens · Identical response for known and unknown emails, preventing account enumeration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890A8"/>
                </a:solidFill>
              </a:rPr>
              <a:t>Flask E-Commerce — Cloud Computing (UCBX)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890A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1B4B"/>
                </a:solidFill>
              </a:rPr>
              <a:t>Slide 5 — SQLite Today, Managed Cloud Database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0642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4F46E5"/>
                </a:solidFill>
              </a:rPr>
              <a:t>Why SQLite Is the Current Data 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1031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1E1B4B"/>
                </a:solidFill>
              </a:rPr>
              <a:t>Pointing several instances at one SQLite file produced database is locked under concurrent writes — SQLite allows a single writer. Each instance therefore owns its own database file.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6135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1E1B4B"/>
                </a:solidFill>
              </a:rPr>
              <a:t>This was the deliberate trade-off: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68245"/>
          <a:ext cx="5394960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</a:tblGrid>
              <a:tr h="23774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1B4B"/>
                          </a:solidFill>
                        </a:defRPr>
                      </a:pPr>
                      <a:r>
                        <a:t>Gained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1B4B"/>
                          </a:solidFill>
                        </a:defRPr>
                      </a:pPr>
                      <a:r>
                        <a:t>Given up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Multi-instance load balancing runs anywhere, zero setup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Data is per-instance, not shared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No external service to provision for a course demo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Order written on A is invisible on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2809493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1E1B4B"/>
                </a:solidFill>
              </a:rPr>
              <a:t>Stated plainly rather than hidden: the app tier scales correctly; the data tier is the deliberate simulation boundary of this project.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3467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4F46E5"/>
                </a:solidFill>
              </a:rPr>
              <a:t>Why the Application Is Already Portable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19283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1E1B4B"/>
                </a:solidFill>
              </a:rPr>
              <a:t>The constraint is the storage engine, not the code. SQLAlchemy abstracts the dialect and the connection string is already an environment variable: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89602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55F7A"/>
                </a:solidFill>
                <a:latin typeface="Menlo"/>
              </a:rPr>
              <a:t>DATABASE_URL=sqlite:///app1.db                      # today</a:t>
            </a:r>
          </a:p>
          <a:p>
            <a:r>
              <a:rPr sz="850">
                <a:solidFill>
                  <a:srgbClr val="555F7A"/>
                </a:solidFill>
                <a:latin typeface="Menlo"/>
              </a:rPr>
              <a:t>DATABASE_URL=postgresql://user:pw@rds-host/shop     # one variable 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0108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1E1B4B"/>
                </a:solidFill>
              </a:rPr>
              <a:t>psycopg2-binary already ships in requirements.txt. No application code changes to move to PostgreSQL.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26265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4F46E5"/>
                </a:solidFill>
              </a:rPr>
              <a:t>Future Improvement: Managed Cloud Database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4747448"/>
          <a:ext cx="539496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/>
                <a:gridCol w="1798320"/>
                <a:gridCol w="1798320"/>
              </a:tblGrid>
              <a:tr h="23774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1B4B"/>
                          </a:solidFill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1B4B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1B4B"/>
                          </a:solidFill>
                        </a:defRPr>
                      </a:pPr>
                      <a:r>
                        <a:t>Unlocks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Point every instance at one managed PostgreSQL (RDS/Cloud SQL)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Shared state — any instance serves any user identically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Enable Flask-Migrate (already a dependency)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Versioned schema across deploys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Add a read replica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Read scaling for the catalog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Move sessions to Redis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B4B"/>
                          </a:solidFill>
                        </a:defRPr>
                      </a:pPr>
                      <a:r>
                        <a:t>Server-side revocation, larger session payloads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400800" y="105156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1E1B4B"/>
                </a:solidFill>
              </a:rPr>
              <a:t>Step 1 alone removes the only limitation on this slide — and it is a configuration change, not a rewrite.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376743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4F46E5"/>
                </a:solidFill>
              </a:rPr>
              <a:t>Verified End to 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66135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1E1B4B"/>
                </a:solidFill>
              </a:rPr>
              <a:t>131 pytest tests · 99/99 cross-browser checks (Chromium, Firefox, WebKit) · zero layout overflow, 12 pages × 3 widths · load balancer: round-robin, scale-up, scale-down, 502 retry, 503 total failure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931669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1E1B4B"/>
                </a:solidFill>
              </a:rPr>
              <a:t>Repository: https://github.com/tlycode/tanner-young-cloud-project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890A8"/>
                </a:solidFill>
              </a:rPr>
              <a:t>Flask E-Commerce — Cloud Computing (UCBX)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890A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