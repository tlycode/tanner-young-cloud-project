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1 — The Cloud Problem and 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The Problem Cloud Architecture Solves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storefront on one server fails at exactly the wrong moment: a product gets featured, traffic spikes 10x, and the busiest hour becomes the hour customers cannot buy. Vertical scaling is capacity you pay for year-round and still outgrow in a spike.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884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The cloud answer is horizontal: many small identical instances behind a load balancer, added and removed as demand moves.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40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What That Requires of the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254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Horizontal scaling is not a deployment trick — it constrains how the app is written. Three properties had to hold: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435378"/>
              </p:ext>
            </p:extLst>
          </p:nvPr>
        </p:nvGraphicFramePr>
        <p:xfrm>
          <a:off x="548640" y="3613023"/>
          <a:ext cx="5394960" cy="1386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How it was met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Stateless app tier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Any instance must serve any 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Session in a signed cookie, not server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Externalized 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One image, many environments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All config from environment variables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Health-reporting instances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The balancer must know who is alive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HTTP probe per instance every 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02873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Cloud Concepts Implemented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2873" y="1466699"/>
            <a:ext cx="539496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Load balancing </a:t>
            </a:r>
            <a:endParaRPr lang="en-US" sz="1150">
              <a:solidFill>
                <a:srgbClr val="1E1B4B"/>
              </a:solidFill>
            </a:endParaRPr>
          </a:p>
          <a:p>
            <a:r>
              <a:rPr lang="en-US" sz="1150" b="0">
                <a:solidFill>
                  <a:srgbClr val="1E1B4B"/>
                </a:solidFill>
              </a:rPr>
              <a:t>H</a:t>
            </a:r>
            <a:r>
              <a:rPr sz="1150" b="0">
                <a:solidFill>
                  <a:srgbClr val="1E1B4B"/>
                </a:solidFill>
              </a:rPr>
              <a:t>ealth checking </a:t>
            </a:r>
            <a:endParaRPr lang="en-US" sz="1150">
              <a:solidFill>
                <a:srgbClr val="1E1B4B"/>
              </a:solidFill>
            </a:endParaRPr>
          </a:p>
          <a:p>
            <a:r>
              <a:rPr lang="en-US" sz="1150" b="0">
                <a:solidFill>
                  <a:srgbClr val="1E1B4B"/>
                </a:solidFill>
              </a:rPr>
              <a:t>A</a:t>
            </a:r>
            <a:r>
              <a:rPr sz="1150" b="0">
                <a:solidFill>
                  <a:srgbClr val="1E1B4B"/>
                </a:solidFill>
              </a:rPr>
              <a:t>uto-scaling simulation </a:t>
            </a:r>
            <a:endParaRPr lang="en-US" sz="1150" b="0">
              <a:solidFill>
                <a:srgbClr val="1E1B4B"/>
              </a:solidFill>
            </a:endParaRPr>
          </a:p>
          <a:p>
            <a:r>
              <a:rPr lang="en-US" sz="1150">
                <a:solidFill>
                  <a:srgbClr val="1E1B4B"/>
                </a:solidFill>
              </a:rPr>
              <a:t>S</a:t>
            </a:r>
            <a:r>
              <a:rPr sz="1150" b="0">
                <a:solidFill>
                  <a:srgbClr val="1E1B4B"/>
                </a:solidFill>
              </a:rPr>
              <a:t>tateless application tier </a:t>
            </a:r>
            <a:endParaRPr lang="en-US" sz="1150" b="0">
              <a:solidFill>
                <a:srgbClr val="1E1B4B"/>
              </a:solidFill>
            </a:endParaRPr>
          </a:p>
          <a:p>
            <a:r>
              <a:rPr sz="1150" b="0">
                <a:solidFill>
                  <a:srgbClr val="1E1B4B"/>
                </a:solidFill>
              </a:rPr>
              <a:t>CDN-offloaded assets </a:t>
            </a:r>
            <a:endParaRPr lang="en-US" sz="1150" b="0">
              <a:solidFill>
                <a:srgbClr val="1E1B4B"/>
              </a:solidFill>
            </a:endParaRPr>
          </a:p>
          <a:p>
            <a:r>
              <a:rPr lang="en-US" sz="1150" b="0">
                <a:solidFill>
                  <a:srgbClr val="1E1B4B"/>
                </a:solidFill>
              </a:rPr>
              <a:t>R</a:t>
            </a:r>
            <a:r>
              <a:rPr sz="1150" b="0">
                <a:solidFill>
                  <a:srgbClr val="1E1B4B"/>
                </a:solidFill>
              </a:rPr>
              <a:t>ole-based access control </a:t>
            </a:r>
            <a:endParaRPr lang="en-US" sz="1150" b="0">
              <a:solidFill>
                <a:srgbClr val="1E1B4B"/>
              </a:solidFill>
            </a:endParaRPr>
          </a:p>
          <a:p>
            <a:r>
              <a:rPr lang="en-US" sz="1150" b="0">
                <a:solidFill>
                  <a:srgbClr val="1E1B4B"/>
                </a:solidFill>
              </a:rPr>
              <a:t>C</a:t>
            </a:r>
            <a:r>
              <a:rPr sz="1150" b="0">
                <a:solidFill>
                  <a:srgbClr val="1E1B4B"/>
                </a:solidFill>
              </a:rPr>
              <a:t>ontainerization </a:t>
            </a:r>
            <a:endParaRPr lang="en-US" sz="1150" b="0">
              <a:solidFill>
                <a:srgbClr val="1E1B4B"/>
              </a:solidFill>
            </a:endParaRPr>
          </a:p>
          <a:p>
            <a:r>
              <a:rPr sz="1150" b="0">
                <a:solidFill>
                  <a:srgbClr val="1E1B4B"/>
                </a:solidFill>
              </a:rPr>
              <a:t>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2873" y="306075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Each is covered in the slides that follow, with the trade-offs stated rather than hidden.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2 — Load Balancer and Elastic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load_balancer/load_balancer.py — a Flask reverse proxy on :8000 implementing four behaviors: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273962"/>
              </p:ext>
            </p:extLst>
          </p:nvPr>
        </p:nvGraphicFramePr>
        <p:xfrm>
          <a:off x="548640" y="1824218"/>
          <a:ext cx="5394960" cy="1624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Behavior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Round-robin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itertools.count() cycles the healthy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Health checking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Daemon thread probes each backend every 5s, 2s timeout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Auto-scaling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Scans ports 5000–5010; instances join/leave on their 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Retry on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 request to a dead backend re-dispatches to the 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182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Hop-by-hop headers (connection, transfer-encoding, content-length) are stripped per RFC 7230 rather than blindly forwarded.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576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Failure Behavior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0017221"/>
              </p:ext>
            </p:extLst>
          </p:nvPr>
        </p:nvGraphicFramePr>
        <p:xfrm>
          <a:off x="548640" y="4481286"/>
          <a:ext cx="5394960" cy="1100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17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Response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Backend dies mid-request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Retry next target; client never sees the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All retries exhausted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502 Bad 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Zero healthy backends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503 Service Unavailable — degrades, does not crash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Verified Live</a:t>
            </a:r>
          </a:p>
        </p:txBody>
      </p:sp>
      <p:pic>
        <p:nvPicPr>
          <p:cNvPr id="11" name="Picture 10" descr="13-load-balanc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97331"/>
            <a:ext cx="3847927" cy="2834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44855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third instance joins a running pool in one health interval and leaves when killed — no restart, no config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3 — Stateless Tier and Fast Image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Why the App Tier Is Stateless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Round-robin only works if any instance can serve any request. Flask sessions are signed client-side cookies, so cart and login state travel with the request rather than living on one server.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7866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The proof: a cart built on instance A, read back from instance B — a different process with a different database — returns the identical cart.</a:t>
            </a:r>
          </a:p>
        </p:txBody>
      </p:sp>
      <p:pic>
        <p:nvPicPr>
          <p:cNvPr id="7" name="Picture 6" descr="14-stateless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47438"/>
            <a:ext cx="5394960" cy="28200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4619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This is why the deployment needs no sticky sessions. SECRET_KEY is shared across instances; any of them can verify the signature.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Fast Image Loading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Product images are remote URLs, never served by the app — the application ships zero binary assets, so image bandwidth never touches the instances or the load balancer. That is CDN offload in practice.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18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Delivery was then tuned in the browser: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160871"/>
              </p:ext>
            </p:extLst>
          </p:nvPr>
        </p:nvGraphicFramePr>
        <p:xfrm>
          <a:off x="6400800" y="2426467"/>
          <a:ext cx="5394960" cy="862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Technique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loading="lazy"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Below-the-fold images deferred until scrolled toward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decoding="async"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Decode off the main thread; no render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0" y="336184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Measured on throttled Slow 3G (400 kbps, 400 ms RTT):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200322"/>
              </p:ext>
            </p:extLst>
          </p:nvPr>
        </p:nvGraphicFramePr>
        <p:xfrm>
          <a:off x="6400800" y="3709511"/>
          <a:ext cx="5394960" cy="481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Catalog load (9 images)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5,834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968 ms — 83%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4 — Security and Role-Based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Roles: How They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single is_admin flag on User, enforced by an @admin_required decorator that aborts with 403 for anyone unauthenticated or non-admin.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07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555F7A"/>
                </a:solidFill>
                <a:latin typeface="Menlo"/>
              </a:rPr>
              <a:t>def admin_required(f):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@wraps(f)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def decorated_function(*args, **kwargs):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   if (not current_user.is_authenticated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           or not current_user.is_admin):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       abort(403)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   return f(*args, **kwargs)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return decorated_function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3467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Coverage: 12 admin-gated routes · 10 login-gated routes.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0704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Four Tiers of Authorization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949488"/>
              </p:ext>
            </p:extLst>
          </p:nvPr>
        </p:nvGraphicFramePr>
        <p:xfrm>
          <a:off x="548640" y="4230243"/>
          <a:ext cx="53949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Public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No 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Catalog, product detail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Authenticated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@login_required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Cart, checkout, order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Ownership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Must own the record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/orders/&lt;id&gt; — 403 on another user's 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@admin_required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Product CRUD, user promotion, complaints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69957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Ownership is checked, not just login. A logged-in user requesting another's order is refused — verified in all three browser engines.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Bootstrapping the First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Registration never sets is_admin, and the promotion UI is itself admin-gated — so a fresh database has no path to an admin through the web. flask create-admin &lt;email&gt; breaks the cycle from the CLI. No privilege escalation path exists through the application.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051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Defense in Depth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7945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CSRF on every state-changing POST — a missing token returns 400 · PBKDF2-SHA256 password hashing, 8-char minimum · Field whitelisting blocks mass assignment · Signed, single-use, 1-hour reset tokens · Identical response for known and unknown emails, preventing account enumeration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5 — SQLite Today, Managed Cloud Database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Why SQLite Is the Current Data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Pointing several instances at one SQLite file produced database is locked under concurrent writes — SQLite allows a single writer. Each instance therefore owns its own database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487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This was the deliberate trade-off: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235262"/>
              </p:ext>
            </p:extLst>
          </p:nvPr>
        </p:nvGraphicFramePr>
        <p:xfrm>
          <a:off x="548640" y="2219556"/>
          <a:ext cx="5394960" cy="862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Gained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Given up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Multi-instance load balancing runs anywhere, zero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Data is per-instance, not shared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No external service to provision for a course 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Order written on A is invisible on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07523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Stated plainly rather than hidden: the app tier scales correctly; the data tier is the deliberate simulation boundary of this 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4445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Why the Application Is Already Portable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4666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The constraint is the storage engine, not the code. SQLAlchemy abstracts the dialect and the connection string is already an environment variable: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99057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555F7A"/>
                </a:solidFill>
                <a:latin typeface="Menlo"/>
              </a:rPr>
              <a:t>DATABASE_URL=sqlite:///app1.db                      # today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DATABASE_URL=postgresql://user:pw@rds-host/shop     # one variable 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302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psycopg2-binary already ships in requirements.txt. No application code changes to move to PostgreSQL.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10928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Future Improvement: Managed Cloud Database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294314"/>
              </p:ext>
            </p:extLst>
          </p:nvPr>
        </p:nvGraphicFramePr>
        <p:xfrm>
          <a:off x="6309360" y="1409893"/>
          <a:ext cx="5394960" cy="1769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792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Unlocks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Point every instance at one managed PostgreSQL (RDS/Cloud SQL)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Shared state — any instance serves any user identically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Enable Flask-Migrate (already a dependency)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Versioned schema across deploys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Add a read replica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Read scaling for the catalog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Move sessions to Redis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Server-side revocation, larger session payloads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09360" y="32202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Step 1 alone removes the only limitation on this slide — and it is a configuration change, not a rewrite.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0950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Verified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010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131 pytest tests · 99/99 cross-browser checks (Chromium, Firefox, WebKit) · zero layout overflow, 12 pages × 3 widths · load balancer: round-robin, scale-up, scale-down, 502 retry, 503 total failure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2424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Repository: https://github.com/tlycode/tanner-young-cloud-project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1249</Words>
  <Application>Microsoft Macintosh PowerPoint</Application>
  <PresentationFormat>Widescreen</PresentationFormat>
  <Paragraphs>153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Tanner Young</cp:lastModifiedBy>
  <cp:revision>2</cp:revision>
  <dcterms:created xsi:type="dcterms:W3CDTF">2013-01-27T09:14:16Z</dcterms:created>
  <dcterms:modified xsi:type="dcterms:W3CDTF">2026-08-25T06:39:51Z</dcterms:modified>
  <cp:category/>
</cp:coreProperties>
</file>